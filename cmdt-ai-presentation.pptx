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384048" cy="384048"/>
          </a:xfrm>
          <a:prstGeom prst="round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A"/>
                </a:solidFill>
                <a:latin typeface="Georgia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60350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CMDT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Inter"/>
              </a:rPr>
              <a:t>CMDT AI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B7E0C6"/>
                </a:solidFill>
                <a:latin typeface="Inter"/>
              </a:rPr>
              <a:t>L'intelligence des données au service de la filière cotonnière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Inter"/>
              </a:rPr>
              <a:t>Présentation exécutive — Direction Générale de la CMDT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B7E0C6"/>
                </a:solidFill>
                <a:latin typeface="Inter"/>
              </a:rPr>
              <a:t>Compagnie Malienne pour le Développement des Textiles (CMDT)  ·  v0.9.0-preview  ·  Prototype de démonstration — Données synthétiques — Version conceptuelle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384048" cy="384048"/>
          </a:xfrm>
          <a:prstGeom prst="round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A"/>
                </a:solidFill>
                <a:latin typeface="Georgia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6634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Inter"/>
              </a:rPr>
              <a:t>CMDT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POURQUOI MAINTENANT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Inter"/>
              </a:rPr>
              <a:t>Le pilotage de la filière se joue sur des signaux faibles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280160" cy="381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Les données de la filière (production agricole, égrenage, finance, commercialisation, territoire) sont dispersées entre systèmes, filiales et fichiers.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Le pilotage arrive souvent après coup : les écarts de rendement, de coût de revient ou de remboursement sont constatés en fin de campagne.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Les signaux faibles — déficit pluviométrique localisé, pression parasitaire, dérive d'un coût d'égrenage — sont détectés trop tard pour être corrigés.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La volatilité du cours mondial et du change expose directement les recettes d'exportation, sans outil de lecture consolidée du risque.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Constat partagé avec les directions métier — à valider en phase pilote.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384048" cy="384048"/>
          </a:xfrm>
          <a:prstGeom prst="round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A"/>
                </a:solidFill>
                <a:latin typeface="Georgia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6634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Inter"/>
              </a:rPr>
              <a:t>CMDT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LE PRODUIT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Inter"/>
              </a:rPr>
              <a:t>Un système d'intelligence décisionnelle — pas un chatbot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280160" cy="381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CMDT AI transforme les données de la filière en informations exploitables, prévisions et recommandations, pour la Direction Générale et les responsables habilités.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10 modules navigables, un moteur analytique et un copilote d'analyse. Aide à la décision : aucune décision critique automatisée.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754880"/>
            <a:ext cx="141732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Données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8" y="4754880"/>
            <a:ext cx="1417320" cy="50292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77056" y="4754880"/>
            <a:ext cx="141732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4" y="4754880"/>
            <a:ext cx="1417320" cy="50292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Prévision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31152" y="4754880"/>
            <a:ext cx="141732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Risques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4754880"/>
            <a:ext cx="1417320" cy="50292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Recommandation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85248" y="4754880"/>
            <a:ext cx="141732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Décision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https://aidalfallfatima-boop4.github.io/cmdt/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B7E0C6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828800"/>
            <a:ext cx="1737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64008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Inter"/>
              </a:rPr>
              <a:t>Vue générale — Tableau de bord exécutif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737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29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Production coton graine, rendement, fibre, recettes, taux d'égrenage et de remboursement — en un écran, avec sparklines et deltas de campagne.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80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172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La DG n'a pas de vue consolidée temps réel : chaque direction a ses propres tableaux, sans dénominateur commun.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023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ENJEU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315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Un référentiel unique de campagne, filtrable par filiale et par période, avec le classement de performance des 5 filiales.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166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458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Ouvrir la revue de campagne sur ce tableau ; traiter les alertes prioritaires affichées en pied de page.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CMDT AI · Plateforme d'Intelligence Décisionnelle de la Filière Cotonnière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B7E0C6"/>
                </a:solidFill>
                <a:latin typeface="Int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828800"/>
            <a:ext cx="1737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64008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Inter"/>
              </a:rPr>
              <a:t>Production agricole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737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29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Superficies, rendement, producteurs actifs, SCOOPS, intrants distribués ; rendement vs pluviométrie ; répartition territoriale.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80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172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Le rendement recule dans certaines zones sans lecture claire des causes (pluie, ravageurs, fertilité, retard intrants).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023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ENJEU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315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Isoler les zones et secteurs déficitaires et relier la baisse de rendement à ses facteurs.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166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458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Cibler le conseil agricole et la mise en place des intrants sur les secteurs identifiés.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CMDT AI · Plateforme d'Intelligence Décisionnelle de la Filière Cotonnière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B7E0C6"/>
                </a:solidFill>
                <a:latin typeface="Int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828800"/>
            <a:ext cx="1737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64008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Inter"/>
              </a:rPr>
              <a:t>Secteurs &amp; Coopératives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737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29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≈ 29 secteurs, table triable : coton graine, rendement, coût de revient, remboursement, score de performance, niveau de risque.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80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172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Les secteurs en difficulté sont connus tard et traités au cas par cas.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023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ENJEU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315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Un score homogène par secteur et une fiche détaillée (diagnostic IA + recommandations conditionnelles).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166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458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Constituer le portefeuille des secteurs sous seuil pour le plan de redressement piloté par la DPA.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CMDT AI · Plateforme d'Intelligence Décisionnelle de la Filière Cotonnière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B7E0C6"/>
                </a:solidFill>
                <a:latin typeface="Int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828800"/>
            <a:ext cx="1737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64008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Inter"/>
              </a:rPr>
              <a:t>Collecte &amp; Égrenage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737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29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Coton graine collecté / égrené, stock de fibre, taux d'égrenage, capacité usines, délai d'enlèvement ; top corridors d'évacuation.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80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172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Engorgements et pannes aux pics de collecte, stock de fibre non évacué, délais anormaux sur certains corridors.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023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ENJEU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315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Suivi des flux usine par usine et corridor par corridor, avec alerte sur les taux d'acheminement &lt; 92 %.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166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458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Lisser l'affectation du coton graine et prioriser les corridors critiques.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CMDT AI · Plateforme d'Intelligence Décisionnelle de la Filière Cotonnière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B7E0C6"/>
                </a:solidFill>
                <a:latin typeface="Inter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828800"/>
            <a:ext cx="1737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64008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Inter"/>
              </a:rPr>
              <a:t>Finance &amp; Filière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737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29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Recettes vs coûts, marge filière, intrants, subvention, budget vs réalisé, coût de revient par secteur ; analyses financières 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80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172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Les coûts intrants et transport progressent parfois plus vite que les recettes, réduisant la ristourne redistribuable.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023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ENJEU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315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Lecture de la marge filière et de l'écart budgétaire, exposition au prix mondial et au change rendue explicite.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166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458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Arbitrer le prix d'achat producteur et la ristourne ; décider d'une politique de couverture des ventes.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CMDT AI · Plateforme d'Intelligence Décisionnelle de la Filière Cotonnière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B7E0C6"/>
                </a:solidFill>
                <a:latin typeface="Inte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828800"/>
            <a:ext cx="1737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64008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Inter"/>
              </a:rPr>
              <a:t>Prévisions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737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29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Production coton graine, rendement, cours mondial de la fibre, recettes d'exportation — horizons 30 j / 90 j / fin de campagne, intervalles 90 %.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80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172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Le dimensionnement industriel et logistique se fait sans projection chiffrée et bornée.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023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ENJEU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315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Des fourchettes de production et de recettes pour caler capacités et trésorerie.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166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458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Dimensionner l'égrenage sur la fourchette haute ; anticiper l'érosion des recettes liée au Cotlook 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CMDT AI · Plateforme d'Intelligence Décisionnelle de la Filière Cotonnière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B7E0C6"/>
                </a:solidFill>
                <a:latin typeface="Inter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828800"/>
            <a:ext cx="1737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64008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Inter"/>
              </a:rPr>
              <a:t>Risques &amp; Alertes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737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29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Matrice probabilité × impact (≈ 10 risques structurels), anomalies détectées, alertes opérationnelles avec impact et statut.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80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172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Le risque de campagne n'est pas cartographié de façon homogène ni suivi dans le temps.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023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ENJEU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315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Un registre des risques hiérarchisé, chaque risque assorti d'une action recommandée ; détection automatique des écarts.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166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458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Traiter les risques de score ≥ 70 en priorité ; instruire les anomalies critiques (coût usine, délai corridor, écart bascule).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CMDT AI · Plateforme d'Intelligence Décisionnelle de la Filière Cotonnière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B7E0C6"/>
                </a:solidFill>
                <a:latin typeface="Inter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828800"/>
            <a:ext cx="1737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64008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Inter"/>
              </a:rPr>
              <a:t>Intelligence IA — Copilote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737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29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Assistant d'analyse décisionnelle : interrogation des données en langage naturel, réponses structurées WHAT · WHY · SO WHAT · NOW WHAT.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80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172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Produire une note de lecture décisionnelle demande de croiser plusieurs sources et prend du temps.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023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ENJEU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315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Des réponses immédiates et sourcées sur la situation de campagne, les secteurs à risque, les décisions prioritaires.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166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458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Prototype = moteur d'intentions. Phase 2 : LLM + RAG sur le Data Warehouse, citations et niveau de confiance.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CMDT AI · Plateforme d'Intelligence Décisionnelle de la Filière Cotonnière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B7E0C6"/>
                </a:solidFill>
                <a:latin typeface="Inter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828800"/>
            <a:ext cx="1737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64008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Inter"/>
              </a:rPr>
              <a:t>Scénarios de décision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737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29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Simulateur d'impact : 6 leviers (prix d'achat, subvention intrants, superficie, encadrement, mécanisation, protection phytosanitaire).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80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172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Les arbitrages de politique cotonnière se prennent sans vision chiffrée des effets croisés.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023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ENJEU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315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Effet estimé sur la production, le rendement, le coût filière, les recettes, le revenu producteur et la marge — élasticités amorties.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166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458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Confronter les scénarios à l'expertise des directions métier avant décision ; simulation indicative.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CMDT AI · Plateforme d'Intelligence Décisionnelle de la Filière Cotonnière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B7E0C6"/>
                </a:solidFill>
                <a:latin typeface="Inter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828800"/>
            <a:ext cx="1737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64008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Inter"/>
              </a:rPr>
              <a:t>Rapports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737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29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Notes quotidiennes de campagne, revues hebdomadaires collecte / égrenage, rapports exécutifs mensuels, bilan stratégique de campagne.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80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172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La production de rapports est manuelle, hétérogène et peu traçable.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023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ENJEU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315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Des rapports normalisés, datés et structurés autour des mêmes indicateurs que les modules.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166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458968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B2430"/>
                </a:solidFill>
                <a:latin typeface="Inter"/>
              </a:rPr>
              <a:t>Phase 2 : génération depuis le Data Warehouse, versionnage, signature, distribution selon le rôle.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CMDT AI · Plateforme d'Intelligence Décisionnelle de la Filière Cotonnière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384048" cy="384048"/>
          </a:xfrm>
          <a:prstGeom prst="round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A"/>
                </a:solidFill>
                <a:latin typeface="Georgia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6634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Inter"/>
              </a:rPr>
              <a:t>CMDT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PRÉVISIONS &amp; SCÉNARIOS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Inter"/>
              </a:rPr>
              <a:t>De la projection à l'arbitrage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280160" cy="381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4 séries prévues avec intervalles de confiance qui s'élargissent avec l'horizon (±5 % à 30 j, ±11 % à 90 j, ±15 % en fin de campagne).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Modèles simulés dans le prototype (régression log-linéaire, ARIMA, Gradient Boosting simulés) ; en production, recalcul quotidien et suivi de dérive.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Le simulateur de scénarios chiffre les effets croisés des leviers de politique cotonnière, avec rendements décroissants.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Objectif : passer d'un débat d'opinions à un débat de fourchettes, documenté et reproductible.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MODÈLE SIMULÉ — DONNÉES DE DÉMONSTRATION.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384048" cy="384048"/>
          </a:xfrm>
          <a:prstGeom prst="round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A"/>
                </a:solidFill>
                <a:latin typeface="Georgia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6634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Inter"/>
              </a:rPr>
              <a:t>CMDT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RISQUES &amp; IA RESPONSABLE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Inter"/>
              </a:rPr>
              <a:t>Aide à la décision — pas de décision automatique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280160" cy="381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Chaque prédiction est explicable et assortie d'un niveau de confiance ; les recommandations sont tracées.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Aucune décision critique n'est automatisée : la validation humaine par les directions métier est obligatoire.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Les données du prototype sont entièrement synthétiques ; aucune donnée réelle ni nominative de la CMDT.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Sécurité cible : chiffrement, RBAC, journal d'audit, gouvernance des données, moindre privilège sur toute la chaîne.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Registre des risques : ≈ 10 risques structurels, chacun avec une action recommandée.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384048" cy="384048"/>
          </a:xfrm>
          <a:prstGeom prst="round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A"/>
                </a:solidFill>
                <a:latin typeface="Georgia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6634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Inter"/>
              </a:rPr>
              <a:t>CMDT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VISION DE DÉPLOIEMENT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Inter"/>
              </a:rPr>
              <a:t>Cinq phases, du prototype à l'intelligence prédictive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280160" cy="381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Phase 1 — Prototype (en cours) : maquette sur données synthétiques, validation de la valeur métier et de l'UX avec la DG.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Phase 2 — Pilote données réelles : une filiale, Data Warehouse PostgreSQL, premiers modèles ML (rendement, production).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Phase 3 — Connexion aux SI existants : production agricole, égrenage / bascules, finance / crédit de campagne, météo / satellite ; RBAC, audit, chiffrement.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Phase 4 — Déploiement institutionnel : généralisation aux 5 filiales, formation, conduite du changement.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Phase 5 — Intelligence prédictive avancée : alerte précoce ravageurs / sécheresse, optimisation logistique, LLM + RAG explicable.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Architecture cible : Sources → Intégration → Data Warehouse → Analytics → ML → Couche IA/LLM → Moteur de décision → Dashboard · Copilot · Reports.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384048" cy="384048"/>
          </a:xfrm>
          <a:prstGeom prst="round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A"/>
                </a:solidFill>
                <a:latin typeface="Georgia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6634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Inter"/>
              </a:rPr>
              <a:t>CMDT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PROCHAINES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Inter"/>
              </a:rPr>
              <a:t>Ce que nous proposons à la Direction Générale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280160" cy="381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Valider la valeur métier du prototype et le périmètre fonctionnel des 10 modules.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Désigner une filiale pilote et un référent données par direction métier.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Cadrer la Phase 2 : sources prioritaires, gouvernance de la donnée, cible du Data Warehouse.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Définir les indicateurs et pondérations officiels (aujourd'hui hypothèses de travail).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Planifier la revue de campagne récurrente appuyée sur la plateforme.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https://aidalfallfatima-boop4.github.io/cmdt/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384048" cy="384048"/>
          </a:xfrm>
          <a:prstGeom prst="round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A"/>
                </a:solidFill>
                <a:latin typeface="Georgia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6634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Inter"/>
              </a:rPr>
              <a:t>CMDT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F7A4D"/>
                </a:solidFill>
                <a:latin typeface="Inter"/>
              </a:rPr>
              <a:t>AVERTISSEMENT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Inter"/>
              </a:rPr>
              <a:t>Prototype de démonstration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280160" cy="381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Toutes les données présentées sont synthétiques et générées de façon déterministe.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Le moteur analytique et le copilote sont simulés dans le navigateur ; aucun modèle de langage n'est connecté.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L'export PDF et l'authentification sont simulés.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B2430"/>
                </a:solidFill>
                <a:latin typeface="Inter"/>
              </a:rPr>
              <a:t>•  Les analyses, prévisions et recommandations sont des aides à la décision, à valider par les directions métier.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Inter"/>
              </a:rPr>
              <a:t>Compagnie Malienne pour le Développement des Textiles (CMDT) · v0.9.0-preview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